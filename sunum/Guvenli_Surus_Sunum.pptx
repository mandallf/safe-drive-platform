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480560"/>
            <a:ext cx="3291840" cy="3291840"/>
          </a:xfrm>
          <a:prstGeom prst="ellipse">
            <a:avLst/>
          </a:prstGeom>
          <a:solidFill>
            <a:srgbClr val="1E3A8A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0" y="5577840"/>
            <a:ext cx="2011680" cy="2011680"/>
          </a:xfrm>
          <a:prstGeom prst="ellipse">
            <a:avLst/>
          </a:prstGeom>
          <a:solidFill>
            <a:srgbClr val="F59E0B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8686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BURSA TEKNİK ÜNİVERSİTESİ  ·  BİLGİSAYAR MÜHENDİSLİĞİ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Güvenli Sürüş ve Sürücü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Davranışı Analizi Platformu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Akıllı telefon sensörleriyle gerçek zamanlı sürücü davranışı izleme  ·  Senaryo 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069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ile Web Programlama — Dönem Projesi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4983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GRUP 12  ·  PROJE EKİBİ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5303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Melike Rana Yozgatlı      ·      Selen Yakın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Talha Korkmaz      ·      Kubilay İnanç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Agresif sürüş, önlenebilir kazaların başında gelir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 fren, sert dönüş ve ani hızlanma gibi davranışlar kaza riskini ciddi şekilde artırır.</a:t>
            </a:r>
            <a:endParaRPr lang="en-US" sz="1600" dirty="0"/>
          </a:p>
          <a:p>
            <a:pPr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davranışları ölçmek geleneksel olarak araca takılan pahalı OBD-II donanımları gerektirir.</a:t>
            </a:r>
            <a:endParaRPr lang="en-US" sz="16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Filo yönetimi ve sigorta için nesnel, ölçülebilir sürüş verisi bir ihtiyaçtır.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0" y="1920240"/>
            <a:ext cx="4937760" cy="1691640"/>
          </a:xfrm>
          <a:prstGeom prst="roundRect">
            <a:avLst>
              <a:gd name="adj" fmla="val 4324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0" y="21214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GELENEKSEL ÇÖZÜM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0" y="246888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Pahalı OBD-II cihazı + kurulum + her araç için ayrı donanım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83680" y="3840480"/>
            <a:ext cx="4937760" cy="1691640"/>
          </a:xfrm>
          <a:prstGeom prst="roundRect">
            <a:avLst>
              <a:gd name="adj" fmla="val 4324"/>
            </a:avLst>
          </a:prstGeom>
          <a:solidFill>
            <a:srgbClr val="13294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858000" y="40416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BİZİM YAKLAŞIMIMIZ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0" y="438912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Herkesin cebindeki akıllı telefon — ek donanım yok, anında kullanım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 Sürüş Platformu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ÇÖZÜM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Telefonu araç içi IoT cihazına dönüştüren tam yığın platform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468880"/>
            <a:ext cx="822960" cy="822960"/>
          </a:xfrm>
          <a:prstGeom prst="ellipse">
            <a:avLst/>
          </a:prstGeom>
          <a:solidFill>
            <a:srgbClr val="1E3A8A"/>
          </a:solidFill>
          <a:ln/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2468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60120" y="3520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Mobil İstemci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60120" y="40233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İvmeölçer, jiroskop ve GPS verisini toplayıp sunucuya iletir (React Native)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26280" y="210312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0" y="2468880"/>
            <a:ext cx="822960" cy="822960"/>
          </a:xfrm>
          <a:prstGeom prst="ellipse">
            <a:avLst/>
          </a:prstGeom>
          <a:solidFill>
            <a:srgbClr val="F59E0B"/>
          </a:solidFill>
          <a:ln/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46320" y="2468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846320" y="3520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Node.js Backend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846320" y="40233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Veriyi alır, doğrular, saklar ve anomali analizini yapar (Express + Socket.io)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412480" y="210312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32520" y="2468880"/>
            <a:ext cx="822960" cy="822960"/>
          </a:xfrm>
          <a:prstGeom prst="ellipse">
            <a:avLst/>
          </a:prstGeom>
          <a:solidFill>
            <a:srgbClr val="10B981"/>
          </a:solidFill>
          <a:ln/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32520" y="2468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732520" y="3520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 Paneli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732520" y="40233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zamanlı grafik, harita ve alarmlarla izleme sağlar (React)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 Sürüş Platformu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MIMARI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Sistem Mimarisi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29260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54203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Mobil İstemci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99923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Sensör + GPS toplama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17720" y="228600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1E3A8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54880" y="25420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Node.js Backend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754880" y="29992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+ Anomali Motoru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778240" y="228600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915400" y="25420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MongoDB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915400" y="29992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saklama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17720" y="466344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491947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 Paneli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754880" y="537667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Canlı izleme + harita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566160" y="2948940"/>
            <a:ext cx="105156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726680" y="2948940"/>
            <a:ext cx="105156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172200" y="3611880"/>
            <a:ext cx="0" cy="109728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3429000" y="253746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POST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589520" y="253746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kayıt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5508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 canlı yayın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Eşik tabanlı anomali tespiti + Socket.io ile &lt; 3 sn alarm gecikmesi — modüler, katmanlı tasarım.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 Sürüş Platformu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TEKNOLOJILER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Kullanılan Teknoloji Yığını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2402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14400" y="2697480"/>
            <a:ext cx="844906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697480"/>
            <a:ext cx="8449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896466" y="2697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96466" y="2697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Express.js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154680"/>
            <a:ext cx="1265530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154680"/>
            <a:ext cx="12655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bcrypt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26280" y="20116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00600" y="22402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VERITABANI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00600" y="2697480"/>
            <a:ext cx="844906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697480"/>
            <a:ext cx="8449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782666" y="2697480"/>
            <a:ext cx="929030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82666" y="2697480"/>
            <a:ext cx="929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Mongoose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412480" y="20116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0" y="22402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GERÇEK ZAMANLI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686800" y="2697480"/>
            <a:ext cx="1013155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0" y="2697480"/>
            <a:ext cx="10131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40690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14400" y="42976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MOBIL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14400" y="4754880"/>
            <a:ext cx="1265530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4754880"/>
            <a:ext cx="12655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317090" y="4754880"/>
            <a:ext cx="592531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7090" y="4754880"/>
            <a:ext cx="592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14400" y="5212080"/>
            <a:ext cx="1265530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5212080"/>
            <a:ext cx="12655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expo-sensors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26280" y="40690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00600" y="42976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 PANELI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800600" y="4754880"/>
            <a:ext cx="676656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0600" y="4754880"/>
            <a:ext cx="676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614416" y="4754880"/>
            <a:ext cx="592531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14416" y="4754880"/>
            <a:ext cx="592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344107" y="4754880"/>
            <a:ext cx="929030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44107" y="4754880"/>
            <a:ext cx="929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Chart.js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800600" y="5212080"/>
            <a:ext cx="844906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00600" y="5212080"/>
            <a:ext cx="8449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412480" y="40690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8686800" y="42976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ARAÇLAR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8686800" y="4754880"/>
            <a:ext cx="1686154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686800" y="4754880"/>
            <a:ext cx="16861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/ OpenAPI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0510114" y="4754880"/>
            <a:ext cx="592531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510114" y="4754880"/>
            <a:ext cx="592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686800" y="5212080"/>
            <a:ext cx="1265530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686800" y="5212080"/>
            <a:ext cx="12655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/ GitHub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 Sürüş Platformu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ANALIZ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Anomali Tespit Motoru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EŞİK TABANLI DETEKTÖR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359152"/>
            <a:ext cx="292608" cy="29260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860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 fren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023360" y="22860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accelY &lt; −3 m/s²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136392"/>
            <a:ext cx="292608" cy="29260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30632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 hızlanma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023360" y="3063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accelY &gt; +3 m/s²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913632"/>
            <a:ext cx="292608" cy="29260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3840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 dönüş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02336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|gyroZ| &gt; 0.5 rad/s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690872"/>
            <a:ext cx="292608" cy="29260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46177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Sarsıntı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023360" y="4617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|ivme| &gt; 15 m/s²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5468112"/>
            <a:ext cx="292608" cy="29260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1097280" y="5394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Beklenmeyen hızlanma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023360" y="5394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Δhız &gt; 10 km/h/sn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766560" y="1920240"/>
            <a:ext cx="4754880" cy="4114800"/>
          </a:xfrm>
          <a:prstGeom prst="roundRect">
            <a:avLst>
              <a:gd name="adj" fmla="val 1778"/>
            </a:avLst>
          </a:prstGeom>
          <a:solidFill>
            <a:srgbClr val="13294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040880" y="21488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İŞLEM HATTI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04088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589520" y="258775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Yumuşatma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589520" y="28986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Hareketli ortalama ile sensör gürültüsü filtrelenir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040880" y="3447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589520" y="3429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Eşik kontrolü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589520" y="37398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örnek 5 detektörden geçirilir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0408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589520" y="42702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Debounce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589520" y="458114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sn içinde aynı tür alarm tekrar üretilmez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040880" y="5129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589520" y="511149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Risk skoru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589520" y="54223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ağırlıklı, 0–100 arası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 Sürüş Platformu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Gerçek Zamanlı İzleme Paneli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Canlı sensör grafiği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 ile anlık akış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Aktif sürüş durumu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Anlık alarm bildirimi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059936" y="1728216"/>
            <a:ext cx="7278624" cy="45902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D">
                <a:alpha val="18000"/>
              </a:srgbClr>
            </a:outerShdw>
          </a:effectLst>
        </p:spPr>
      </p:sp>
      <p:pic>
        <p:nvPicPr>
          <p:cNvPr id="6" name="Image 0" descr="D:/Claude/sshots/02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1783080"/>
            <a:ext cx="7168896" cy="44805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 Sürüş Platformu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Sürüş Detayı ve Rota Haritası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 harita üzerinde rota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 noktaları işaretli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Mesafe, ortalama hız, süre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Sürüş risk skoru (0–100)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059936" y="1728216"/>
            <a:ext cx="7278624" cy="45902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D">
                <a:alpha val="18000"/>
              </a:srgbClr>
            </a:outerShdw>
          </a:effectLst>
        </p:spPr>
      </p:sp>
      <p:pic>
        <p:nvPicPr>
          <p:cNvPr id="6" name="Image 0" descr="D:/Claude/sshots/04-trip-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1783080"/>
            <a:ext cx="7168896" cy="44805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 Sürüş Platformu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Alarm Listesi ve Sürüş Geçmişi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85216" y="1956816"/>
            <a:ext cx="5815584" cy="3675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D">
                <a:alpha val="18000"/>
              </a:srgbClr>
            </a:outerShdw>
          </a:effectLst>
        </p:spPr>
      </p:sp>
      <p:pic>
        <p:nvPicPr>
          <p:cNvPr id="5" name="Image 0" descr="D:/Claude/sshots/05-alar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0"/>
            <a:ext cx="5705856" cy="35661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345936" y="1956816"/>
            <a:ext cx="5815584" cy="3675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D">
                <a:alpha val="18000"/>
              </a:srgbClr>
            </a:outerShdw>
          </a:effectLst>
        </p:spPr>
      </p:sp>
      <p:pic>
        <p:nvPicPr>
          <p:cNvPr id="7" name="Image 1" descr="D:/Claude/sshots/03-tri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11680"/>
            <a:ext cx="5705856" cy="35661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5943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Filtrelenebilir alarm kayıtları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6400800" y="59436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sürüşler ve risk skorları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 Sürüş Platformu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DEĞER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Kimin İşine Yarar?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61188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194560"/>
            <a:ext cx="3611880" cy="109728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6517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Bireysel Sürücü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60120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Sürüş kalitesi geri bildirimi ile daha güvenli ve bilinçli sürüş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61188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6280" y="2194560"/>
            <a:ext cx="3611880" cy="1097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26517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Filo Yöneticisi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846320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araçların gerçek zamanlı takibi ve riskli sürücü tespiti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61188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0" y="2194560"/>
            <a:ext cx="3611880" cy="10972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8732520" y="26517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Sigorta Şirketi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732520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Kullanım temelli (usage-based) fiyatlandırma için nesnel veri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 Sürüş Platformu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MÜHENDISLIK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Karşılaşılan Zorluklar ve Çözümler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121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Zorluk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Sensör gürültüsü her titreşimde alarm üretiyordu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201168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EAF6E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0" y="2121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Çözüm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0" y="23774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Hareketli ortalama + debounce ile yanlış alarmlar azaltıldı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89320" y="246888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306324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31729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Zorluk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8680" y="34290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İvmeölçer yerçekimini içeriyordu (sürekli ofset)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72200" y="306324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EAF6E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00800" y="31729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Çözüm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0" y="34290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Low-pass filtre ile lineer ivme — gerçek hareket ölçülüyor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989320" y="352044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0080" y="411480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42245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Zorluk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68680" y="44805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Canlı veri yalnızca sürüş bitince geliyordu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72200" y="411480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EAF6E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00800" y="42245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Çözüm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0" y="44805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ref ile stale-closure giderildi, anlık akış sağlandı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989320" y="457200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40080" y="516636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68680" y="52760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Zorluk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68680" y="55321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24 ile mobil SDK uyumsuzluğu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172200" y="516636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EAF6E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00800" y="52760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Çözüm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00800" y="55321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 SDK 54 hizalaması — cihaz uyumu sağlandı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89320" y="562356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 Sürüş Platformu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-1097280"/>
            <a:ext cx="3474720" cy="3474720"/>
          </a:xfrm>
          <a:prstGeom prst="ellipse">
            <a:avLst/>
          </a:prstGeom>
          <a:solidFill>
            <a:srgbClr val="1E3A8A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515600" y="4754880"/>
            <a:ext cx="2926080" cy="2926080"/>
          </a:xfrm>
          <a:prstGeom prst="ellipse">
            <a:avLst/>
          </a:prstGeom>
          <a:solidFill>
            <a:srgbClr val="F59E0B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0116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Teşekkürler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 Sürüş ve Sürücü Davranışı Analizi Platformu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37947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github.com/MandallF/safe-drive-platform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297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Sorularınızı bekliyoruz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Melike Rana Yozgatlı  ·  Selen Yakın  ·  Talha Korkmaz  ·  Kubilay İnanç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Guvenli Surus ve Surucu Davranisi Analizi Platformu</dc:title>
  <dc:subject>PptxGenJS Presentation</dc:subject>
  <dc:creator>Grup 12 - BTU</dc:creator>
  <cp:lastModifiedBy>Grup 12 - BTU</cp:lastModifiedBy>
  <cp:revision>1</cp:revision>
  <dcterms:created xsi:type="dcterms:W3CDTF">2026-06-06T12:43:38Z</dcterms:created>
  <dcterms:modified xsi:type="dcterms:W3CDTF">2026-06-06T12:43:38Z</dcterms:modified>
</cp:coreProperties>
</file>